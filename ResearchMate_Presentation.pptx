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B5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05840"/>
            <a:ext cx="502920" cy="82296"/>
          </a:xfrm>
          <a:prstGeom prst="rect">
            <a:avLst/>
          </a:prstGeom>
          <a:solidFill>
            <a:srgbClr val="4F8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Segoe UI"/>
              </a:rPr>
              <a:t>ResearchMate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0">
                <a:solidFill>
                  <a:srgbClr val="4F8FF5"/>
                </a:solidFill>
                <a:latin typeface="Segoe UI"/>
              </a:rPr>
              <a:t>A Retrieval-Augmented Generation System for Research Papers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>
                <a:solidFill>
                  <a:srgbClr val="EDF2FB"/>
                </a:solidFill>
                <a:latin typeface="Segoe UI"/>
              </a:rPr>
              <a:t>Ask questions in plain English — get grounded, cited answers from a local library of research papers.
When the papers don't cover it, it intelligently falls back to live web search.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4F8FF5"/>
                </a:solidFill>
                <a:latin typeface="Segoe UI"/>
              </a:rPr>
              <a:t>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00600"/>
            <a:ext cx="1067104" cy="384048"/>
          </a:xfrm>
          <a:prstGeom prst="roundRect">
            <a:avLst/>
          </a:prstGeom>
          <a:solidFill>
            <a:srgbClr val="2B5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Python 3.12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54656" y="4800600"/>
            <a:ext cx="785469" cy="384048"/>
          </a:xfrm>
          <a:prstGeom prst="roundRect">
            <a:avLst/>
          </a:prstGeom>
          <a:solidFill>
            <a:srgbClr val="2B5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04717" y="4800600"/>
            <a:ext cx="1137513" cy="384048"/>
          </a:xfrm>
          <a:prstGeom prst="roundRect">
            <a:avLst/>
          </a:prstGeom>
          <a:solidFill>
            <a:srgbClr val="2B5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React + Vite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2" y="4800600"/>
            <a:ext cx="855878" cy="384048"/>
          </a:xfrm>
          <a:prstGeom prst="roundRect">
            <a:avLst/>
          </a:prstGeom>
          <a:solidFill>
            <a:srgbClr val="2B5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Groq LLM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27292" y="4800600"/>
            <a:ext cx="1771192" cy="384048"/>
          </a:xfrm>
          <a:prstGeom prst="roundRect">
            <a:avLst/>
          </a:prstGeom>
          <a:solidFill>
            <a:srgbClr val="2B5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sentence-transformers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3076" y="4800600"/>
            <a:ext cx="715060" cy="384048"/>
          </a:xfrm>
          <a:prstGeom prst="roundRect">
            <a:avLst/>
          </a:prstGeom>
          <a:solidFill>
            <a:srgbClr val="2B5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SQLite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2728" y="4800600"/>
            <a:ext cx="715060" cy="384048"/>
          </a:xfrm>
          <a:prstGeom prst="roundRect">
            <a:avLst/>
          </a:prstGeom>
          <a:solidFill>
            <a:srgbClr val="2B5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Tavily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EDF2FB"/>
                </a:solidFill>
                <a:latin typeface="Segoe UI"/>
              </a:rPr>
              <a:t>A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" cy="658368"/>
          </a:xfrm>
          <a:prstGeom prst="rect">
            <a:avLst/>
          </a:prstGeom>
          <a:solidFill>
            <a:srgbClr val="4F8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B5DE3"/>
                </a:solidFill>
                <a:latin typeface="Segoe U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Segoe U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5156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 b="1">
                <a:solidFill>
                  <a:srgbClr val="2B5DE3"/>
                </a:solidFill>
                <a:latin typeface="Segoe UI"/>
              </a:rPr>
              <a:t>▸  </a:t>
            </a:r>
            <a:r>
              <a:rPr sz="1800" b="1">
                <a:solidFill>
                  <a:srgbClr val="222A35"/>
                </a:solidFill>
                <a:latin typeface="Segoe UI"/>
              </a:rPr>
              <a:t>Researchers drown in reading. </a:t>
            </a:r>
            <a:r>
              <a:rPr sz="1800">
                <a:solidFill>
                  <a:srgbClr val="222A35"/>
                </a:solidFill>
                <a:latin typeface="Segoe UI"/>
              </a:rPr>
              <a:t>Hundreds of dense, technical PDFs make finding a specific fact slow and error-prone.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 b="1">
                <a:solidFill>
                  <a:srgbClr val="2B5DE3"/>
                </a:solidFill>
                <a:latin typeface="Segoe UI"/>
              </a:rPr>
              <a:t>▸  </a:t>
            </a:r>
            <a:r>
              <a:rPr sz="1800" b="1">
                <a:solidFill>
                  <a:srgbClr val="222A35"/>
                </a:solidFill>
                <a:latin typeface="Segoe UI"/>
              </a:rPr>
              <a:t>Generic search engines miss context. </a:t>
            </a:r>
            <a:r>
              <a:rPr sz="1800">
                <a:solidFill>
                  <a:srgbClr val="222A35"/>
                </a:solidFill>
                <a:latin typeface="Segoe UI"/>
              </a:rPr>
              <a:t>They can't distinguish methods, results, and citations inside a paper.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 b="1">
                <a:solidFill>
                  <a:srgbClr val="2B5DE3"/>
                </a:solidFill>
                <a:latin typeface="Segoe UI"/>
              </a:rPr>
              <a:t>▸  </a:t>
            </a:r>
            <a:r>
              <a:rPr sz="1800" b="1">
                <a:solidFill>
                  <a:srgbClr val="222A35"/>
                </a:solidFill>
                <a:latin typeface="Segoe UI"/>
              </a:rPr>
              <a:t>LLMs alone hallucinate. </a:t>
            </a:r>
            <a:r>
              <a:rPr sz="1800">
                <a:solidFill>
                  <a:srgbClr val="222A35"/>
                </a:solidFill>
                <a:latin typeface="Segoe UI"/>
              </a:rPr>
              <a:t>Generative models invent citations and lack access to your private or local corpus.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 b="1">
                <a:solidFill>
                  <a:srgbClr val="2B5DE3"/>
                </a:solidFill>
                <a:latin typeface="Segoe UI"/>
              </a:rPr>
              <a:t>▸  </a:t>
            </a:r>
            <a:r>
              <a:rPr sz="1800" b="1">
                <a:solidFill>
                  <a:srgbClr val="222A35"/>
                </a:solidFill>
                <a:latin typeface="Segoe UI"/>
              </a:rPr>
              <a:t>Facts need sources. </a:t>
            </a:r>
            <a:r>
              <a:rPr sz="1800">
                <a:solidFill>
                  <a:srgbClr val="222A35"/>
                </a:solidFill>
                <a:latin typeface="Segoe UI"/>
              </a:rPr>
              <a:t>Research answers are worthless without a verifiable path back to the paper.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800" b="1">
                <a:solidFill>
                  <a:srgbClr val="2B5DE3"/>
                </a:solidFill>
                <a:latin typeface="Segoe UI"/>
              </a:rPr>
              <a:t>▸  </a:t>
            </a:r>
            <a:r>
              <a:rPr sz="1800" b="1">
                <a:solidFill>
                  <a:srgbClr val="222A35"/>
                </a:solidFill>
                <a:latin typeface="Segoe UI"/>
              </a:rPr>
              <a:t>Our goal: </a:t>
            </a:r>
            <a:r>
              <a:rPr sz="1800">
                <a:solidFill>
                  <a:srgbClr val="222A35"/>
                </a:solidFill>
                <a:latin typeface="Segoe UI"/>
              </a:rPr>
              <a:t>a system that answers questions using ONLY the actual papers — with visible, clickable citations.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A667A"/>
                </a:solidFill>
                <a:latin typeface="Segoe UI"/>
              </a:rPr>
              <a:t>ResearchMate  ·  RAG System for Research Papers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A667A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A667A"/>
                </a:solidFill>
                <a:latin typeface="Segoe U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" cy="658368"/>
          </a:xfrm>
          <a:prstGeom prst="rect">
            <a:avLst/>
          </a:prstGeom>
          <a:solidFill>
            <a:srgbClr val="4F8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B5DE3"/>
                </a:solidFill>
                <a:latin typeface="Segoe U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Segoe UI"/>
              </a:rPr>
              <a:t>What is Retrieval-Augmented Generation (RAG)?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36192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5A667A"/>
                </a:solidFill>
                <a:latin typeface="Segoe UI"/>
              </a:rPr>
              <a:t>Ground the answer in retrieved evidence before the LLM writes anything.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401568" cy="3291840"/>
          </a:xfrm>
          <a:prstGeom prst="roundRect">
            <a:avLst/>
          </a:prstGeom>
          <a:solidFill>
            <a:srgbClr val="ED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09728" cy="3291840"/>
          </a:xfrm>
          <a:prstGeom prst="rect">
            <a:avLst/>
          </a:prstGeom>
          <a:solidFill>
            <a:srgbClr val="2B5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2316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2B5DE3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5603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B2A4A"/>
                </a:solidFill>
                <a:latin typeface="Segoe UI"/>
              </a:rPr>
              <a:t>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2743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222A35"/>
                </a:solidFill>
                <a:latin typeface="Segoe UI"/>
              </a:rPr>
              <a:t>Parse PDFs → split into overlapping word-chunks → embed every chunk with a sentence-transformer.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2148840"/>
            <a:ext cx="3401568" cy="3291840"/>
          </a:xfrm>
          <a:prstGeom prst="roundRect">
            <a:avLst/>
          </a:prstGeom>
          <a:solidFill>
            <a:srgbClr val="ED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6" y="2148840"/>
            <a:ext cx="109728" cy="3291840"/>
          </a:xfrm>
          <a:prstGeom prst="rect">
            <a:avLst/>
          </a:prstGeom>
          <a:solidFill>
            <a:srgbClr val="4F8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242316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4F8FF5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4376" y="25603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B2A4A"/>
                </a:solidFill>
                <a:latin typeface="Segoe UI"/>
              </a:rPr>
              <a:t>Retrieve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3383280"/>
            <a:ext cx="2743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222A35"/>
                </a:solidFill>
                <a:latin typeface="Segoe UI"/>
              </a:rPr>
              <a:t>Embed the user's question, then find the top-k chunks by cosine similarity.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91272" y="2148840"/>
            <a:ext cx="3401568" cy="3291840"/>
          </a:xfrm>
          <a:prstGeom prst="roundRect">
            <a:avLst/>
          </a:prstGeom>
          <a:solidFill>
            <a:srgbClr val="ED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91272" y="2148840"/>
            <a:ext cx="109728" cy="3291840"/>
          </a:xfrm>
          <a:prstGeom prst="rect">
            <a:avLst/>
          </a:prstGeom>
          <a:solidFill>
            <a:srgbClr val="2FB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242316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2FB677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1392" y="25603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B2A4A"/>
                </a:solidFill>
                <a:latin typeface="Segoe UI"/>
              </a:rPr>
              <a:t>Generate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3383280"/>
            <a:ext cx="2743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222A35"/>
                </a:solidFill>
                <a:latin typeface="Segoe UI"/>
              </a:rPr>
              <a:t>Feed chunks (+ optional web results) to Groq with a strict 'answer only from context' prompt.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15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2B5DE3"/>
                </a:solidFill>
                <a:latin typeface="Segoe UI"/>
              </a:rPr>
              <a:t>Every generated sentence cites its exact source label — [Paper: filename] or [Web: title].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A667A"/>
                </a:solidFill>
                <a:latin typeface="Segoe UI"/>
              </a:rPr>
              <a:t>ResearchMate  ·  RAG System for Research Papers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A667A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4652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A667A"/>
                </a:solidFill>
                <a:latin typeface="Segoe U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" cy="658368"/>
          </a:xfrm>
          <a:prstGeom prst="rect">
            <a:avLst/>
          </a:prstGeom>
          <a:solidFill>
            <a:srgbClr val="4F8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B5DE3"/>
                </a:solidFill>
                <a:latin typeface="Segoe UI"/>
              </a:rPr>
              <a:t>HOW IT FITS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Segoe U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5A667A"/>
                </a:solidFill>
                <a:latin typeface="Segoe UI"/>
              </a:rPr>
              <a:t>Full-stack: Jupyter-notebook prototype → production-style FastAPI backend + React web 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57400"/>
            <a:ext cx="3291840" cy="3749039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1 · CORPUS  (offline)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200">
                <a:solidFill>
                  <a:srgbClr val="EDF2FB"/>
                </a:solidFill>
                <a:latin typeface="Segoe UI"/>
              </a:rPr>
              <a:t>PDFs in research_papers/  (7 papers)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200">
                <a:solidFill>
                  <a:srgbClr val="EDF2FB"/>
                </a:solidFill>
                <a:latin typeface="Segoe UI"/>
              </a:rPr>
              <a:t>+ user uploads via the UI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200">
                <a:solidFill>
                  <a:srgbClr val="EDF2FB"/>
                </a:solidFill>
                <a:latin typeface="Segoe UI"/>
              </a:rPr>
              <a:t>pypdf text extraction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200">
                <a:solidFill>
                  <a:srgbClr val="EDF2FB"/>
                </a:solidFill>
                <a:latin typeface="Segoe UI"/>
              </a:rPr>
              <a:t>word chunks — size 300, overlap 30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200">
                <a:solidFill>
                  <a:srgbClr val="EDF2FB"/>
                </a:solidFill>
                <a:latin typeface="Segoe UI"/>
              </a:rPr>
              <a:t>sentence-transformers embeddings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200">
                <a:solidFill>
                  <a:srgbClr val="EDF2FB"/>
                </a:solidFill>
                <a:latin typeface="Segoe UI"/>
              </a:rPr>
              <a:t>→ all-MiniLM-L6-v2, 384-dims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200">
                <a:solidFill>
                  <a:srgbClr val="EDF2FB"/>
                </a:solidFill>
                <a:latin typeface="Segoe UI"/>
              </a:rPr>
              <a:t>stored in SQLite (research.db)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57400"/>
            <a:ext cx="3291840" cy="3749039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2 · RETRIEVAL  (runtime)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200">
                <a:solidFill>
                  <a:srgbClr val="EDF2FB"/>
                </a:solidFill>
                <a:latin typeface="Segoe UI"/>
              </a:rPr>
              <a:t>query embedded with same model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200">
                <a:solidFill>
                  <a:srgbClr val="EDF2FB"/>
                </a:solidFill>
                <a:latin typeface="Segoe UI"/>
              </a:rPr>
              <a:t>cosine similarity = matrix dot-product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200">
                <a:solidFill>
                  <a:srgbClr val="EDF2FB"/>
                </a:solidFill>
                <a:latin typeface="Segoe UI"/>
              </a:rPr>
              <a:t>top-K = 5 chunks returned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200">
                <a:solidFill>
                  <a:srgbClr val="EDF2FB"/>
                </a:solidFill>
                <a:latin typeface="Segoe UI"/>
              </a:rPr>
              <a:t>score threshold 0.40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200">
                <a:solidFill>
                  <a:srgbClr val="EDF2FB"/>
                </a:solidFill>
                <a:latin typeface="Segoe UI"/>
              </a:rPr>
              <a:t>if best score too low → Tavily web search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200">
                <a:solidFill>
                  <a:srgbClr val="EDF2FB"/>
                </a:solidFill>
                <a:latin typeface="Segoe UI"/>
              </a:rPr>
              <a:t>in-memory numpy index,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200">
                <a:solidFill>
                  <a:srgbClr val="EDF2FB"/>
                </a:solidFill>
                <a:latin typeface="Segoe UI"/>
              </a:rPr>
              <a:t>rebuilt from DB on startup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2057400"/>
            <a:ext cx="3291840" cy="3749039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3 · GENERATION &amp; UI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200">
                <a:solidFill>
                  <a:srgbClr val="EDF2FB"/>
                </a:solidFill>
                <a:latin typeface="Segoe UI"/>
              </a:rPr>
              <a:t>Groq LLM — strict grounded prompt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200">
                <a:solidFill>
                  <a:srgbClr val="EDF2FB"/>
                </a:solidFill>
                <a:latin typeface="Segoe UI"/>
              </a:rPr>
              <a:t>answers with Markdown + citations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200">
                <a:solidFill>
                  <a:srgbClr val="EDF2FB"/>
                </a:solidFill>
                <a:latin typeface="Segoe UI"/>
              </a:rPr>
              <a:t>FastAPI endpoints: /upload, /query,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200">
                <a:solidFill>
                  <a:srgbClr val="EDF2FB"/>
                </a:solidFill>
                <a:latin typeface="Segoe UI"/>
              </a:rPr>
              <a:t>   /history, /documents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200">
                <a:solidFill>
                  <a:srgbClr val="EDF2FB"/>
                </a:solidFill>
                <a:latin typeface="Segoe UI"/>
              </a:rPr>
              <a:t>React + Vite + Tailwind chat UI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200">
                <a:solidFill>
                  <a:srgbClr val="EDF2FB"/>
                </a:solidFill>
                <a:latin typeface="Segoe UI"/>
              </a:rPr>
              <a:t>source panels: [Paper] + [Web]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200">
                <a:solidFill>
                  <a:srgbClr val="EDF2FB"/>
                </a:solidFill>
                <a:latin typeface="Segoe UI"/>
              </a:rPr>
              <a:t>history sidebar, searches saved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32504" y="361188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0">
                <a:solidFill>
                  <a:srgbClr val="2B5DE3"/>
                </a:solidFill>
                <a:latin typeface="Segoe UI"/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44384" y="361188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0">
                <a:solidFill>
                  <a:srgbClr val="2B5DE3"/>
                </a:solidFill>
                <a:latin typeface="Segoe UI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A667A"/>
                </a:solidFill>
                <a:latin typeface="Segoe UI"/>
              </a:rPr>
              <a:t>ResearchMate  ·  RAG System for Research Papers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A667A"/>
                </a:solidFill>
                <a:latin typeface="Segoe U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A667A"/>
                </a:solidFill>
                <a:latin typeface="Segoe U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" cy="658368"/>
          </a:xfrm>
          <a:prstGeom prst="rect">
            <a:avLst/>
          </a:prstGeom>
          <a:solidFill>
            <a:srgbClr val="4F8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B5DE3"/>
                </a:solidFill>
                <a:latin typeface="Segoe UI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Segoe UI"/>
              </a:rPr>
              <a:t>Retrieval Engine — no vector DB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5A667A"/>
                </a:solidFill>
                <a:latin typeface="Segoe UI"/>
              </a:rPr>
              <a:t>All embeddings live in one NumPy matrix loaded from SQLite — retrieval is a single matrix multiply.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65836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 b="1">
                <a:solidFill>
                  <a:srgbClr val="2B5DE3"/>
                </a:solidFill>
                <a:latin typeface="Segoe UI"/>
              </a:rPr>
              <a:t>▸  </a:t>
            </a:r>
            <a:r>
              <a:rPr sz="1700" b="1">
                <a:solidFill>
                  <a:srgbClr val="222A35"/>
                </a:solidFill>
                <a:latin typeface="Segoe UI"/>
              </a:rPr>
              <a:t>Chunks + embeddings persisted in SQLite (LargeBinary, 384 × float32).</a:t>
            </a:r>
            <a:r>
              <a:rPr sz="1700">
                <a:solidFill>
                  <a:srgbClr val="222A35"/>
                </a:solidFill>
                <a:latin typeface="Segoe UI"/>
              </a:rPr>
              <a:t>No .npy / JSON cache files — the DB is the single source of truth.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 b="1">
                <a:solidFill>
                  <a:srgbClr val="2B5DE3"/>
                </a:solidFill>
                <a:latin typeface="Segoe UI"/>
              </a:rPr>
              <a:t>▸  </a:t>
            </a:r>
            <a:r>
              <a:rPr sz="1700" b="1">
                <a:solidFill>
                  <a:srgbClr val="222A35"/>
                </a:solidFill>
                <a:latin typeface="Segoe UI"/>
              </a:rPr>
              <a:t>L2-normalise everything, so dot-product == cosine similarity.</a:t>
            </a:r>
            <a:r>
              <a:rPr sz="1700">
                <a:solidFill>
                  <a:srgbClr val="222A35"/>
                </a:solidFill>
                <a:latin typeface="Segoe UI"/>
              </a:rPr>
              <a:t>query_vec = embed(question); sims = chunk_matrix @ query_vec.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 b="1">
                <a:solidFill>
                  <a:srgbClr val="2B5DE3"/>
                </a:solidFill>
                <a:latin typeface="Segoe UI"/>
              </a:rPr>
              <a:t>▸  </a:t>
            </a:r>
            <a:r>
              <a:rPr sz="1700" b="1">
                <a:solidFill>
                  <a:srgbClr val="222A35"/>
                </a:solidFill>
                <a:latin typeface="Segoe UI"/>
              </a:rPr>
              <a:t>Top-K = 5 chunks with scores.</a:t>
            </a:r>
            <a:r>
              <a:rPr sz="1700">
                <a:solidFill>
                  <a:srgbClr val="222A35"/>
                </a:solidFill>
                <a:latin typeface="Segoe UI"/>
              </a:rPr>
              <a:t>Only scores &gt; 0 are returned; matches are ranked by similarity.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 b="1">
                <a:solidFill>
                  <a:srgbClr val="2B5DE3"/>
                </a:solidFill>
                <a:latin typeface="Segoe UI"/>
              </a:rPr>
              <a:t>▸  </a:t>
            </a:r>
            <a:r>
              <a:rPr sz="1700" b="1">
                <a:solidFill>
                  <a:srgbClr val="222A35"/>
                </a:solidFill>
                <a:latin typeface="Segoe UI"/>
              </a:rPr>
              <a:t>Confidence check.</a:t>
            </a:r>
            <a:r>
              <a:rPr sz="1700">
                <a:solidFill>
                  <a:srgbClr val="222A35"/>
                </a:solidFill>
                <a:latin typeface="Segoe UI"/>
              </a:rPr>
              <a:t>If the best score &lt; 0.40, the corpus is deemed insufficient → web fallback.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286000"/>
            <a:ext cx="3749039" cy="146304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514600"/>
            <a:ext cx="320039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sims = chunk_matrix  ·  query_vec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EDF2FB"/>
                </a:solidFill>
                <a:latin typeface="Segoe UI"/>
              </a:rPr>
              <a:t>score = cosine similarity(query, chunk)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4023360"/>
            <a:ext cx="3749039" cy="1463040"/>
          </a:xfrm>
          <a:prstGeom prst="roundRect">
            <a:avLst/>
          </a:prstGeom>
          <a:solidFill>
            <a:srgbClr val="ED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4224528"/>
            <a:ext cx="320039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2B5DE3"/>
                </a:solidFill>
                <a:latin typeface="Segoe UI"/>
              </a:rPr>
              <a:t>Retrieval is O(matmul)</a:t>
            </a:r>
          </a:p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300" b="0">
                <a:solidFill>
                  <a:srgbClr val="5A667A"/>
                </a:solidFill>
                <a:latin typeface="Segoe UI"/>
              </a:rPr>
              <a:t>7 papers → thousands of chunks</a:t>
            </a:r>
          </a:p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300" b="0">
                <a:solidFill>
                  <a:srgbClr val="5A667A"/>
                </a:solidFill>
                <a:latin typeface="Segoe UI"/>
              </a:rPr>
              <a:t>instant in-memory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A667A"/>
                </a:solidFill>
                <a:latin typeface="Segoe UI"/>
              </a:rPr>
              <a:t>ResearchMate  ·  RAG System for Research Papers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A667A"/>
                </a:solidFill>
                <a:latin typeface="Segoe U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A667A"/>
                </a:solidFill>
                <a:latin typeface="Segoe U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" cy="658368"/>
          </a:xfrm>
          <a:prstGeom prst="rect">
            <a:avLst/>
          </a:prstGeom>
          <a:solidFill>
            <a:srgbClr val="4F8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B5DE3"/>
                </a:solidFill>
                <a:latin typeface="Segoe UI"/>
              </a:rPr>
              <a:t>HANDLING GAPS IN THE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Segoe UI"/>
              </a:rPr>
              <a:t>Smart Web-Search Fallback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10607040" cy="1554480"/>
          </a:xfrm>
          <a:prstGeom prst="roundRect">
            <a:avLst/>
          </a:prstGeom>
          <a:solidFill>
            <a:srgbClr val="ED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0">
                <a:solidFill>
                  <a:srgbClr val="222A35"/>
                </a:solidFill>
                <a:latin typeface="Segoe UI"/>
              </a:rPr>
              <a:t>If the best retrieval score drops below 0.40, 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1">
                <a:solidFill>
                  <a:srgbClr val="2B5DE3"/>
                </a:solidFill>
                <a:latin typeface="Segoe UI"/>
              </a:rPr>
              <a:t>ResearchMate calls the Tavily API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0">
                <a:solidFill>
                  <a:srgbClr val="222A35"/>
                </a:solidFill>
                <a:latin typeface="Segoe UI"/>
              </a:rPr>
              <a:t> and fetches up to 5 web results.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700" b="0">
                <a:solidFill>
                  <a:srgbClr val="222A35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5A667A"/>
                </a:solidFill>
                <a:latin typeface="Segoe UI"/>
              </a:rPr>
              <a:t>Those results are appended to the LLM context under a clear 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F59E0B"/>
                </a:solidFill>
                <a:latin typeface="Segoe UI"/>
              </a:rPr>
              <a:t>--- WEB RESULTS ---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0">
                <a:solidFill>
                  <a:srgbClr val="5A667A"/>
                </a:solidFill>
                <a:latin typeface="Segoe UI"/>
              </a:rPr>
              <a:t> marker — so the answer stays grounded and honest.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105156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>
                <a:solidFill>
                  <a:srgbClr val="2B5DE3"/>
                </a:solidFill>
                <a:latin typeface="Segoe UI"/>
              </a:rPr>
              <a:t>▸  </a:t>
            </a:r>
            <a:r>
              <a:rPr sz="1700" b="1">
                <a:solidFill>
                  <a:srgbClr val="222A35"/>
                </a:solidFill>
                <a:latin typeface="Segoe UI"/>
              </a:rPr>
              <a:t>Web results are labelled [Web: title]</a:t>
            </a:r>
            <a:r>
              <a:rPr sz="1700">
                <a:solidFill>
                  <a:srgbClr val="222A35"/>
                </a:solidFill>
                <a:latin typeface="Segoe UI"/>
              </a:rPr>
              <a:t>never mixed silently with paper citations.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>
                <a:solidFill>
                  <a:srgbClr val="2B5DE3"/>
                </a:solidFill>
                <a:latin typeface="Segoe UI"/>
              </a:rPr>
              <a:t>▸  </a:t>
            </a:r>
            <a:r>
              <a:rPr sz="1700" b="1">
                <a:solidFill>
                  <a:srgbClr val="222A35"/>
                </a:solidFill>
                <a:latin typeface="Segoe UI"/>
              </a:rPr>
              <a:t>No key, no network?</a:t>
            </a:r>
            <a:r>
              <a:rPr sz="1700">
                <a:solidFill>
                  <a:srgbClr val="222A35"/>
                </a:solidFill>
                <a:latin typeface="Segoe UI"/>
              </a:rPr>
              <a:t>falls back gracefully to papers-only answers.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>
                <a:solidFill>
                  <a:srgbClr val="2B5DE3"/>
                </a:solidFill>
                <a:latin typeface="Segoe UI"/>
              </a:rPr>
              <a:t>▸  </a:t>
            </a:r>
            <a:r>
              <a:rPr sz="1700" b="1">
                <a:solidFill>
                  <a:srgbClr val="222A35"/>
                </a:solidFill>
                <a:latin typeface="Segoe UI"/>
              </a:rPr>
              <a:t>Low-confidence questions</a:t>
            </a:r>
            <a:r>
              <a:rPr sz="1700">
                <a:solidFill>
                  <a:srgbClr val="222A35"/>
                </a:solidFill>
                <a:latin typeface="Segoe UI"/>
              </a:rPr>
              <a:t>get the best of both worlds — local papers + fresh web context.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>
                <a:solidFill>
                  <a:srgbClr val="2B5DE3"/>
                </a:solidFill>
                <a:latin typeface="Segoe UI"/>
              </a:rPr>
              <a:t>▸  </a:t>
            </a:r>
            <a:r>
              <a:rPr sz="1700" b="1">
                <a:solidFill>
                  <a:srgbClr val="222A35"/>
                </a:solidFill>
                <a:latin typeface="Segoe UI"/>
              </a:rPr>
              <a:t>Clearly flagged in the UI</a:t>
            </a:r>
            <a:r>
              <a:rPr sz="1700">
                <a:solidFill>
                  <a:srgbClr val="222A35"/>
                </a:solidFill>
                <a:latin typeface="Segoe UI"/>
              </a:rPr>
              <a:t>with an amber banner: 'web search was used'.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760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5A667A"/>
                </a:solidFill>
                <a:latin typeface="Segoe UI"/>
              </a:rPr>
              <a:t>Trade-off — instant answers from the local corpus when possible; freshness from the web only when needed.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A667A"/>
                </a:solidFill>
                <a:latin typeface="Segoe UI"/>
              </a:rPr>
              <a:t>ResearchMate  ·  RAG System for Research Papers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A667A"/>
                </a:solidFill>
                <a:latin typeface="Segoe U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A667A"/>
                </a:solidFill>
                <a:latin typeface="Segoe U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" cy="658368"/>
          </a:xfrm>
          <a:prstGeom prst="rect">
            <a:avLst/>
          </a:prstGeom>
          <a:solidFill>
            <a:srgbClr val="4F8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B5DE3"/>
                </a:solidFill>
                <a:latin typeface="Segoe UI"/>
              </a:rPr>
              <a:t>BUILT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Segoe UI"/>
              </a:rPr>
              <a:t>Tech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401568" cy="594360"/>
          </a:xfrm>
          <a:prstGeom prst="roundRect">
            <a:avLst/>
          </a:prstGeom>
          <a:solidFill>
            <a:srgbClr val="2B5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47672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DATA &amp; INDEXING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14600"/>
            <a:ext cx="3401568" cy="3566160"/>
          </a:xfrm>
          <a:prstGeom prst="roundRect">
            <a:avLst/>
          </a:prstGeom>
          <a:solidFill>
            <a:srgbClr val="ED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/>
          <a:lstStyle/>
          <a:p>
            <a:pPr algn="ctr">
              <a:spcAft>
                <a:spcPts val="1200"/>
              </a:spcAft>
            </a:pPr>
            <a:r>
              <a:rPr b="1" sz="1500">
                <a:solidFill>
                  <a:srgbClr val="2B5DE3"/>
                </a:solidFill>
                <a:latin typeface="Segoe UI"/>
              </a:rPr>
              <a:t>•  </a:t>
            </a:r>
            <a:r>
              <a:rPr b="1" sz="1500">
                <a:solidFill>
                  <a:srgbClr val="1B2A4A"/>
                </a:solidFill>
                <a:latin typeface="Segoe UI"/>
              </a:rPr>
              <a:t>pypdf</a:t>
            </a:r>
            <a:r>
              <a:rPr sz="1500">
                <a:solidFill>
                  <a:srgbClr val="5A667A"/>
                </a:solidFill>
                <a:latin typeface="Segoe UI"/>
              </a:rPr>
              <a:t>  —  PDF text extraction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2B5DE3"/>
                </a:solidFill>
                <a:latin typeface="Segoe UI"/>
              </a:rPr>
              <a:t>•  </a:t>
            </a:r>
            <a:r>
              <a:rPr b="1" sz="1500">
                <a:solidFill>
                  <a:srgbClr val="1B2A4A"/>
                </a:solidFill>
                <a:latin typeface="Segoe UI"/>
              </a:rPr>
              <a:t>SQLite + SQLAlchemy</a:t>
            </a:r>
            <a:r>
              <a:rPr sz="1500">
                <a:solidFill>
                  <a:srgbClr val="5A667A"/>
                </a:solidFill>
                <a:latin typeface="Segoe UI"/>
              </a:rPr>
              <a:t>  —  storage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2B5DE3"/>
                </a:solidFill>
                <a:latin typeface="Segoe UI"/>
              </a:rPr>
              <a:t>•  </a:t>
            </a:r>
            <a:r>
              <a:rPr b="1" sz="1500">
                <a:solidFill>
                  <a:srgbClr val="1B2A4A"/>
                </a:solidFill>
                <a:latin typeface="Segoe UI"/>
              </a:rPr>
              <a:t>sentence-transformers</a:t>
            </a:r>
            <a:r>
              <a:rPr sz="1500">
                <a:solidFill>
                  <a:srgbClr val="5A667A"/>
                </a:solidFill>
                <a:latin typeface="Segoe UI"/>
              </a:rPr>
              <a:t>  —  embeddings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2B5DE3"/>
                </a:solidFill>
                <a:latin typeface="Segoe UI"/>
              </a:rPr>
              <a:t>•  </a:t>
            </a:r>
            <a:r>
              <a:rPr b="1" sz="1500">
                <a:solidFill>
                  <a:srgbClr val="1B2A4A"/>
                </a:solidFill>
                <a:latin typeface="Segoe UI"/>
              </a:rPr>
              <a:t>NumPy</a:t>
            </a:r>
            <a:r>
              <a:rPr sz="1500">
                <a:solidFill>
                  <a:srgbClr val="5A667A"/>
                </a:solidFill>
                <a:latin typeface="Segoe UI"/>
              </a:rPr>
              <a:t>  —  vector math (no vector DB)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828800"/>
            <a:ext cx="3401568" cy="594360"/>
          </a:xfrm>
          <a:prstGeom prst="roundRect">
            <a:avLst/>
          </a:prstGeom>
          <a:solidFill>
            <a:srgbClr val="2B5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947672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AI &amp;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2514600"/>
            <a:ext cx="3401568" cy="3566160"/>
          </a:xfrm>
          <a:prstGeom prst="roundRect">
            <a:avLst/>
          </a:prstGeom>
          <a:solidFill>
            <a:srgbClr val="ED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/>
          <a:lstStyle/>
          <a:p>
            <a:pPr algn="ctr">
              <a:spcAft>
                <a:spcPts val="1200"/>
              </a:spcAft>
            </a:pPr>
            <a:r>
              <a:rPr b="1" sz="1500">
                <a:solidFill>
                  <a:srgbClr val="2B5DE3"/>
                </a:solidFill>
                <a:latin typeface="Segoe UI"/>
              </a:rPr>
              <a:t>•  </a:t>
            </a:r>
            <a:r>
              <a:rPr b="1" sz="1500">
                <a:solidFill>
                  <a:srgbClr val="1B2A4A"/>
                </a:solidFill>
                <a:latin typeface="Segoe UI"/>
              </a:rPr>
              <a:t>Groq</a:t>
            </a:r>
            <a:r>
              <a:rPr sz="1500">
                <a:solidFill>
                  <a:srgbClr val="5A667A"/>
                </a:solidFill>
                <a:latin typeface="Segoe UI"/>
              </a:rPr>
              <a:t>  —  fast LLM generation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2B5DE3"/>
                </a:solidFill>
                <a:latin typeface="Segoe UI"/>
              </a:rPr>
              <a:t>•  </a:t>
            </a:r>
            <a:r>
              <a:rPr b="1" sz="1500">
                <a:solidFill>
                  <a:srgbClr val="1B2A4A"/>
                </a:solidFill>
                <a:latin typeface="Segoe UI"/>
              </a:rPr>
              <a:t>all-MiniLM-L6-v2</a:t>
            </a:r>
            <a:r>
              <a:rPr sz="1500">
                <a:solidFill>
                  <a:srgbClr val="5A667A"/>
                </a:solidFill>
                <a:latin typeface="Segoe UI"/>
              </a:rPr>
              <a:t>  —  384-dim model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2B5DE3"/>
                </a:solidFill>
                <a:latin typeface="Segoe UI"/>
              </a:rPr>
              <a:t>•  </a:t>
            </a:r>
            <a:r>
              <a:rPr b="1" sz="1500">
                <a:solidFill>
                  <a:srgbClr val="1B2A4A"/>
                </a:solidFill>
                <a:latin typeface="Segoe UI"/>
              </a:rPr>
              <a:t>Tavily</a:t>
            </a:r>
            <a:r>
              <a:rPr sz="1500">
                <a:solidFill>
                  <a:srgbClr val="5A667A"/>
                </a:solidFill>
                <a:latin typeface="Segoe UI"/>
              </a:rPr>
              <a:t>  —  web-search fallback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2B5DE3"/>
                </a:solidFill>
                <a:latin typeface="Segoe UI"/>
              </a:rPr>
              <a:t>•  </a:t>
            </a:r>
            <a:r>
              <a:rPr b="1" sz="1500">
                <a:solidFill>
                  <a:srgbClr val="1B2A4A"/>
                </a:solidFill>
                <a:latin typeface="Segoe UI"/>
              </a:rPr>
              <a:t>scikit-learn</a:t>
            </a:r>
            <a:r>
              <a:rPr sz="1500">
                <a:solidFill>
                  <a:srgbClr val="5A667A"/>
                </a:solidFill>
                <a:latin typeface="Segoe UI"/>
              </a:rPr>
              <a:t>  —  utilities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91272" y="1828800"/>
            <a:ext cx="3401568" cy="594360"/>
          </a:xfrm>
          <a:prstGeom prst="roundRect">
            <a:avLst/>
          </a:prstGeom>
          <a:solidFill>
            <a:srgbClr val="2B5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1947672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SERVING &amp;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91272" y="2514600"/>
            <a:ext cx="3401568" cy="3566160"/>
          </a:xfrm>
          <a:prstGeom prst="roundRect">
            <a:avLst/>
          </a:prstGeom>
          <a:solidFill>
            <a:srgbClr val="ED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/>
          <a:lstStyle/>
          <a:p>
            <a:pPr algn="ctr">
              <a:spcAft>
                <a:spcPts val="1200"/>
              </a:spcAft>
            </a:pPr>
            <a:r>
              <a:rPr b="1" sz="1500">
                <a:solidFill>
                  <a:srgbClr val="2B5DE3"/>
                </a:solidFill>
                <a:latin typeface="Segoe UI"/>
              </a:rPr>
              <a:t>•  </a:t>
            </a:r>
            <a:r>
              <a:rPr b="1" sz="1500">
                <a:solidFill>
                  <a:srgbClr val="1B2A4A"/>
                </a:solidFill>
                <a:latin typeface="Segoe UI"/>
              </a:rPr>
              <a:t>Python 3.12</a:t>
            </a:r>
            <a:r>
              <a:rPr sz="1500">
                <a:solidFill>
                  <a:srgbClr val="5A667A"/>
                </a:solidFill>
                <a:latin typeface="Segoe UI"/>
              </a:rPr>
              <a:t>  —  uv-managed envs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2B5DE3"/>
                </a:solidFill>
                <a:latin typeface="Segoe UI"/>
              </a:rPr>
              <a:t>•  </a:t>
            </a:r>
            <a:r>
              <a:rPr b="1" sz="1500">
                <a:solidFill>
                  <a:srgbClr val="1B2A4A"/>
                </a:solidFill>
                <a:latin typeface="Segoe UI"/>
              </a:rPr>
              <a:t>FastAPI + Uvicorn</a:t>
            </a:r>
            <a:r>
              <a:rPr sz="1500">
                <a:solidFill>
                  <a:srgbClr val="5A667A"/>
                </a:solidFill>
                <a:latin typeface="Segoe UI"/>
              </a:rPr>
              <a:t>  —  REST server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2B5DE3"/>
                </a:solidFill>
                <a:latin typeface="Segoe UI"/>
              </a:rPr>
              <a:t>•  </a:t>
            </a:r>
            <a:r>
              <a:rPr b="1" sz="1500">
                <a:solidFill>
                  <a:srgbClr val="1B2A4A"/>
                </a:solidFill>
                <a:latin typeface="Segoe UI"/>
              </a:rPr>
              <a:t>React + Vite + Tailwind</a:t>
            </a:r>
            <a:r>
              <a:rPr sz="1500">
                <a:solidFill>
                  <a:srgbClr val="5A667A"/>
                </a:solidFill>
                <a:latin typeface="Segoe UI"/>
              </a:rPr>
              <a:t>  —  web app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2B5DE3"/>
                </a:solidFill>
                <a:latin typeface="Segoe UI"/>
              </a:rPr>
              <a:t>•  </a:t>
            </a:r>
            <a:r>
              <a:rPr b="1" sz="1500">
                <a:solidFill>
                  <a:srgbClr val="1B2A4A"/>
                </a:solidFill>
                <a:latin typeface="Segoe UI"/>
              </a:rPr>
              <a:t>Axios</a:t>
            </a:r>
            <a:r>
              <a:rPr sz="1500">
                <a:solidFill>
                  <a:srgbClr val="5A667A"/>
                </a:solidFill>
                <a:latin typeface="Segoe UI"/>
              </a:rPr>
              <a:t>  —  API client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60720"/>
            <a:ext cx="10652760" cy="64008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870448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2 terminals to run everything:  uv run uvicorn backend.main:app  +  npm run dev  →  localhost:5173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A667A"/>
                </a:solidFill>
                <a:latin typeface="Segoe UI"/>
              </a:rPr>
              <a:t>ResearchMate  ·  RAG System for Research Papers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A667A"/>
                </a:solidFill>
                <a:latin typeface="Segoe UI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A667A"/>
                </a:solidFill>
                <a:latin typeface="Segoe U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" cy="658368"/>
          </a:xfrm>
          <a:prstGeom prst="rect">
            <a:avLst/>
          </a:prstGeom>
          <a:solidFill>
            <a:srgbClr val="4F8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B5DE3"/>
                </a:solidFill>
                <a:latin typeface="Segoe UI"/>
              </a:rP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Segoe UI"/>
              </a:rPr>
              <a:t>What Works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5257800" cy="1051560"/>
          </a:xfrm>
          <a:prstGeom prst="roundRect">
            <a:avLst/>
          </a:prstGeom>
          <a:solidFill>
            <a:srgbClr val="ED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91440" cy="1051560"/>
          </a:xfrm>
          <a:prstGeom prst="rect">
            <a:avLst/>
          </a:prstGeom>
          <a:solidFill>
            <a:srgbClr val="2FB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56816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2FB677"/>
                </a:solidFill>
                <a:latin typeface="Segoe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75104"/>
            <a:ext cx="4343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  <a:latin typeface="Segoe UI"/>
              </a:rPr>
              <a:t>FastAPI + 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95728"/>
            <a:ext cx="4343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A667A"/>
                </a:solidFill>
                <a:latin typeface="Segoe UI"/>
              </a:rPr>
              <a:t>full-stack chat with source panels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28800"/>
            <a:ext cx="5257800" cy="1051560"/>
          </a:xfrm>
          <a:prstGeom prst="roundRect">
            <a:avLst/>
          </a:prstGeom>
          <a:solidFill>
            <a:srgbClr val="ED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828800"/>
            <a:ext cx="91440" cy="1051560"/>
          </a:xfrm>
          <a:prstGeom prst="rect">
            <a:avLst/>
          </a:prstGeom>
          <a:solidFill>
            <a:srgbClr val="2FB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56816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2FB677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975104"/>
            <a:ext cx="4343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  <a:latin typeface="Segoe UI"/>
              </a:rPr>
              <a:t>PDF upload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395728"/>
            <a:ext cx="4343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A667A"/>
                </a:solidFill>
                <a:latin typeface="Segoe UI"/>
              </a:rPr>
              <a:t>add papers from the UI — instantly indexed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108960"/>
            <a:ext cx="5257800" cy="1051560"/>
          </a:xfrm>
          <a:prstGeom prst="roundRect">
            <a:avLst/>
          </a:prstGeom>
          <a:solidFill>
            <a:srgbClr val="ED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108960"/>
            <a:ext cx="91440" cy="1051560"/>
          </a:xfrm>
          <a:prstGeom prst="rect">
            <a:avLst/>
          </a:prstGeom>
          <a:solidFill>
            <a:srgbClr val="2FB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236976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2FB677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255264"/>
            <a:ext cx="4343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  <a:latin typeface="Segoe UI"/>
              </a:rPr>
              <a:t>Web-search 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675888"/>
            <a:ext cx="4343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A667A"/>
                </a:solidFill>
                <a:latin typeface="Segoe UI"/>
              </a:rPr>
              <a:t>ambitious: grounded answers beyond the corpus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108960"/>
            <a:ext cx="5257800" cy="1051560"/>
          </a:xfrm>
          <a:prstGeom prst="roundRect">
            <a:avLst/>
          </a:prstGeom>
          <a:solidFill>
            <a:srgbClr val="ED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108960"/>
            <a:ext cx="91440" cy="1051560"/>
          </a:xfrm>
          <a:prstGeom prst="rect">
            <a:avLst/>
          </a:prstGeom>
          <a:solidFill>
            <a:srgbClr val="2FB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236976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2FB677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255264"/>
            <a:ext cx="4343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  <a:latin typeface="Segoe UI"/>
              </a:rPr>
              <a:t>Chat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675888"/>
            <a:ext cx="4343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A667A"/>
                </a:solidFill>
                <a:latin typeface="Segoe UI"/>
              </a:rPr>
              <a:t>last 50 Q&amp;As persisted in SQLite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389120"/>
            <a:ext cx="5257800" cy="1051560"/>
          </a:xfrm>
          <a:prstGeom prst="roundRect">
            <a:avLst/>
          </a:prstGeom>
          <a:solidFill>
            <a:srgbClr val="ED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389120"/>
            <a:ext cx="91440" cy="1051560"/>
          </a:xfrm>
          <a:prstGeom prst="rect">
            <a:avLst/>
          </a:prstGeom>
          <a:solidFill>
            <a:srgbClr val="2FB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517136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2FB677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535424"/>
            <a:ext cx="4343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  <a:latin typeface="Segoe UI"/>
              </a:rPr>
              <a:t>Downloadable papers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956048"/>
            <a:ext cx="4343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A667A"/>
                </a:solidFill>
                <a:latin typeface="Segoe UI"/>
              </a:rPr>
              <a:t>view the exact source PDF for any citation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4389120"/>
            <a:ext cx="5257800" cy="1051560"/>
          </a:xfrm>
          <a:prstGeom prst="roundRect">
            <a:avLst/>
          </a:prstGeom>
          <a:solidFill>
            <a:srgbClr val="ED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4389120"/>
            <a:ext cx="91440" cy="1051560"/>
          </a:xfrm>
          <a:prstGeom prst="rect">
            <a:avLst/>
          </a:prstGeom>
          <a:solidFill>
            <a:srgbClr val="2FB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517136"/>
            <a:ext cx="1005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2FB677"/>
                </a:solidFill>
                <a:latin typeface="Segoe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535424"/>
            <a:ext cx="4343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  <a:latin typeface="Segoe UI"/>
              </a:rPr>
              <a:t>Full REST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956048"/>
            <a:ext cx="4343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A667A"/>
                </a:solidFill>
                <a:latin typeface="Segoe UI"/>
              </a:rPr>
              <a:t>/health /upload /query /history /documents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A667A"/>
                </a:solidFill>
                <a:latin typeface="Segoe UI"/>
              </a:rPr>
              <a:t>ResearchMate  ·  RAG System for Research Papers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A667A"/>
                </a:solidFill>
                <a:latin typeface="Segoe UI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4652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A667A"/>
                </a:solidFill>
                <a:latin typeface="Segoe U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B5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66928"/>
            <a:ext cx="82296" cy="658368"/>
          </a:xfrm>
          <a:prstGeom prst="rect">
            <a:avLst/>
          </a:prstGeom>
          <a:solidFill>
            <a:srgbClr val="4F8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2B5DE3"/>
                </a:solidFill>
                <a:latin typeface="Segoe UI"/>
              </a:rPr>
              <a:t>ENGINEERING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B2A4A"/>
                </a:solidFill>
                <a:latin typeface="Segoe UI"/>
              </a:rPr>
              <a:t>Lessons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5156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 b="1">
                <a:solidFill>
                  <a:srgbClr val="2B5DE3"/>
                </a:solidFill>
                <a:latin typeface="Segoe UI"/>
              </a:rPr>
              <a:t>▸  </a:t>
            </a:r>
            <a:r>
              <a:rPr sz="1700" b="1">
                <a:solidFill>
                  <a:srgbClr val="222A35"/>
                </a:solidFill>
                <a:latin typeface="Segoe UI"/>
              </a:rPr>
              <a:t>Chunking is the 80% knob. </a:t>
            </a:r>
            <a:r>
              <a:rPr sz="1700">
                <a:solidFill>
                  <a:srgbClr val="222A35"/>
                </a:solidFill>
                <a:latin typeface="Segoe UI"/>
              </a:rPr>
              <a:t>Chunk size 150 was too heavy for local runs; development used 50, production default is 300 with 30-word overlap — tune per hardware.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 b="1">
                <a:solidFill>
                  <a:srgbClr val="2B5DE3"/>
                </a:solidFill>
                <a:latin typeface="Segoe UI"/>
              </a:rPr>
              <a:t>▸  </a:t>
            </a:r>
            <a:r>
              <a:rPr sz="1700" b="1">
                <a:solidFill>
                  <a:srgbClr val="222A35"/>
                </a:solidFill>
                <a:latin typeface="Segoe UI"/>
              </a:rPr>
              <a:t>Normalised embeddings = fast retrieval. </a:t>
            </a:r>
            <a:r>
              <a:rPr sz="1700">
                <a:solidFill>
                  <a:srgbClr val="222A35"/>
                </a:solidFill>
                <a:latin typeface="Segoe UI"/>
              </a:rPr>
              <a:t>L2-norm makes cosine similarity a plain matrix multiply — no vector database required.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 b="1">
                <a:solidFill>
                  <a:srgbClr val="2B5DE3"/>
                </a:solidFill>
                <a:latin typeface="Segoe UI"/>
              </a:rPr>
              <a:t>▸  </a:t>
            </a:r>
            <a:r>
              <a:rPr sz="1700" b="1">
                <a:solidFill>
                  <a:srgbClr val="222A35"/>
                </a:solidFill>
                <a:latin typeface="Segoe UI"/>
              </a:rPr>
              <a:t>Lazy singletons keep the server snappy. </a:t>
            </a:r>
            <a:r>
              <a:rPr sz="1700">
                <a:solidFill>
                  <a:srgbClr val="222A35"/>
                </a:solidFill>
                <a:latin typeface="Segoe UI"/>
              </a:rPr>
              <a:t>The embedding model is loaded once and cached; the index is rebuilt from SQLite only on startup or upload.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 b="1">
                <a:solidFill>
                  <a:srgbClr val="2B5DE3"/>
                </a:solidFill>
                <a:latin typeface="Segoe UI"/>
              </a:rPr>
              <a:t>▸  </a:t>
            </a:r>
            <a:r>
              <a:rPr sz="1700" b="1">
                <a:solidFill>
                  <a:srgbClr val="222A35"/>
                </a:solidFill>
                <a:latin typeface="Segoe UI"/>
              </a:rPr>
              <a:t>Grounding beats guessing. </a:t>
            </a:r>
            <a:r>
              <a:rPr sz="1700">
                <a:solidFill>
                  <a:srgbClr val="222A35"/>
                </a:solidFill>
                <a:latin typeface="Segoe UI"/>
              </a:rPr>
              <a:t>A strict system prompt plus a hard score threshold prevents most hallucinated answers.</a:t>
            </a:r>
          </a:p>
          <a:p>
            <a:pPr>
              <a:lnSpc>
                <a:spcPct val="108000"/>
              </a:lnSpc>
              <a:spcAft>
                <a:spcPts val="1800"/>
              </a:spcAft>
            </a:pPr>
            <a:r>
              <a:rPr sz="1700" b="1">
                <a:solidFill>
                  <a:srgbClr val="2B5DE3"/>
                </a:solidFill>
                <a:latin typeface="Segoe UI"/>
              </a:rPr>
              <a:t>▸  </a:t>
            </a:r>
            <a:r>
              <a:rPr sz="1700" b="1">
                <a:solidFill>
                  <a:srgbClr val="222A35"/>
                </a:solidFill>
                <a:latin typeface="Segoe UI"/>
              </a:rPr>
              <a:t>Build it in a notebook first. </a:t>
            </a:r>
            <a:r>
              <a:rPr sz="1700">
                <a:solidFill>
                  <a:srgbClr val="222A35"/>
                </a:solidFill>
                <a:latin typeface="Segoe UI"/>
              </a:rPr>
              <a:t>Prototyping in rag.ipynb then porting to backend/ kept the pipeline identical between demo and product.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A667A"/>
                </a:solidFill>
                <a:latin typeface="Segoe UI"/>
              </a:rPr>
              <a:t>ResearchMate  ·  RAG System for Research Papers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A667A"/>
                </a:solidFill>
                <a:latin typeface="Segoe U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5A667A"/>
                </a:solidFill>
                <a:latin typeface="Segoe U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B5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4F8FF5"/>
                </a:solidFill>
                <a:latin typeface="Segoe U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2B5DE3"/>
                </a:solidFill>
                <a:latin typeface="Segoe UI"/>
              </a:rPr>
              <a:t>▸  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Evaluation harness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EDF2FB"/>
                </a:solidFill>
                <a:latin typeface="Segoe UI"/>
              </a:rPr>
              <a:t>  —  accuracy@k over 15 test queries vs BM25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0136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2B5DE3"/>
                </a:solidFill>
                <a:latin typeface="Segoe UI"/>
              </a:rPr>
              <a:t>▸  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Topic suggestions + export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EDF2FB"/>
                </a:solidFill>
                <a:latin typeface="Segoe UI"/>
              </a:rPr>
              <a:t>  —  corpus topics via LLM; chat → Markdown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6829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2B5DE3"/>
                </a:solidFill>
                <a:latin typeface="Segoe UI"/>
              </a:rPr>
              <a:t>▸  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Dark mode, reranking, multi-hop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EDF2FB"/>
                </a:solidFill>
                <a:latin typeface="Segoe UI"/>
              </a:rPr>
              <a:t>  —  polish + deeper retrieval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3522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2B5DE3"/>
                </a:solidFill>
                <a:latin typeface="Segoe UI"/>
              </a:rPr>
              <a:t>▸  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Deployment hardening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EDF2FB"/>
                </a:solidFill>
                <a:latin typeface="Segoe UI"/>
              </a:rPr>
              <a:t>  —  auth, rate limiting, monitoring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794760"/>
            <a:ext cx="10515600" cy="27432"/>
          </a:xfrm>
          <a:prstGeom prst="rect">
            <a:avLst/>
          </a:prstGeom>
          <a:solidFill>
            <a:srgbClr val="2B5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Thank you!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4F8FF5"/>
                </a:solidFill>
                <a:latin typeface="Segoe UI"/>
              </a:rPr>
              <a:t>ResearchMate — grounded answers from your research papers, with citations you can trust.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EDF2FB"/>
                </a:solidFill>
                <a:latin typeface="Segoe UI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